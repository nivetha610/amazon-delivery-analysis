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image" Target="../media/image-6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3108960" cy="3108960"/>
          </a:xfrm>
          <a:prstGeom prst="ellipse">
            <a:avLst/>
          </a:prstGeom>
          <a:solidFill>
            <a:srgbClr val="1E2A4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68680" cy="86868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5" name="Image 0" descr="/home/claude/amazon_pptx/icons/tru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413" y="88125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9659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DELIVERY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95528" y="26517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AGENT EFFICIENCY DASHBOARD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95528" y="327355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 &amp; Power BI Analytics Project for Logistics &amp; E-commerce Delivery Operations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95528" y="3913632"/>
            <a:ext cx="20116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95528" y="4261104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U. Nivetha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658368" y="4727448"/>
            <a:ext cx="6675120" cy="1591056"/>
          </a:xfrm>
          <a:prstGeom prst="roundRect">
            <a:avLst>
              <a:gd name="adj" fmla="val 4598"/>
            </a:avLst>
          </a:prstGeom>
          <a:solidFill>
            <a:srgbClr val="1E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8646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395728" y="4864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Anudip Foundation, Pallavaram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519379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395728" y="519379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AF05258491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5522976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Code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395728" y="5522976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D3676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4400" y="585216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Name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395728" y="585216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Divya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9893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135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5" name="Image 0" descr="/home/claude/amazon_pptx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190652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1051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Amazon delivery operations using data analytics. The dashboard delivers insights into orders, delivery performance, agents, vehicles, traffic, weather, and geography.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3657600"/>
            <a:ext cx="53492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used for database management and SQL analysis, while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used for ETL, visualization, and interactive dashboards. The goal: identify delivery patterns, monitor performance, and support data-driven decisions.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766560" y="1508760"/>
            <a:ext cx="4892040" cy="4572000"/>
          </a:xfrm>
          <a:prstGeom prst="roundRect">
            <a:avLst>
              <a:gd name="adj" fmla="val 2400"/>
            </a:avLst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5400000">
              <a:srgbClr val="1A2135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86600" y="178308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1" name="Image 1" descr="/home/claude/amazon_pptx/icons/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044" y="19065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18120" y="17373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818120" y="20116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&amp; E-commerce Delivery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086600" y="2606040"/>
            <a:ext cx="4251960" cy="0"/>
          </a:xfrm>
          <a:prstGeom prst="line">
            <a:avLst/>
          </a:prstGeom>
          <a:noFill/>
          <a:ln w="12700">
            <a:solidFill>
              <a:srgbClr val="2E3B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086600" y="278892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7086600" y="310896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delivery operations face delays caused by traffic conditions, weather conditions, vehicle types, and differences in agent performance.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086600" y="4343400"/>
            <a:ext cx="4251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dashboard is required to identify delivery patterns, monitor performance, and understand the factors affecting delivery efficiency.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DELIVERY PERFORMANCE &amp; AGENT EFFICIENCY DASHBOARD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48477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35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25269" y="1856232"/>
            <a:ext cx="731520" cy="73152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5" name="Image 0" descr="/home/claude/amazon_pptx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8149" y="203911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679192"/>
            <a:ext cx="321045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3026664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&amp; SQL analysis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53458" y="1600200"/>
            <a:ext cx="348477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35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30088" y="1856232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0" name="Image 1" descr="/home/claude/amazon_pptx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968" y="203911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90618" y="2679192"/>
            <a:ext cx="321045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36338" y="3026664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data visualization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58277" y="1600200"/>
            <a:ext cx="348477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35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534906" y="1856232"/>
            <a:ext cx="731520" cy="73152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15" name="Image 2" descr="/home/claude/amazon_pptx/icons/fun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786" y="203911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95437" y="2679192"/>
            <a:ext cx="321045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341157" y="3026664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data cleaning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348477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35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925269" y="4142232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0" name="Image 3" descr="/home/claude/amazon_pptx/icons/cal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149" y="432511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5800" y="4965192"/>
            <a:ext cx="321045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31520" y="5312664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&amp; analytical measures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53458" y="3886200"/>
            <a:ext cx="348477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35">
                <a:alpha val="1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730088" y="4142232"/>
            <a:ext cx="731520" cy="73152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25" name="Image 4" descr="/home/claude/amazon_pptx/icons/f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968" y="4325112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490618" y="4965192"/>
            <a:ext cx="321045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536338" y="5312664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storage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158277" y="3886200"/>
            <a:ext cx="348477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35">
                <a:alpha val="1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9534906" y="4142232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30" name="Image 5" descr="/home/claude/amazon_pptx/icons/githu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7786" y="4325112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95437" y="4965192"/>
            <a:ext cx="321045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8341157" y="5312664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&amp; version control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DELIVERY PERFORMANCE &amp; AGENT EFFICIENCY DASHBOARD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MySQL Database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amazondelivery_db  |  Source: Public Dataset (Kaggle)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54298" cy="352044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3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1741" y="2103120"/>
            <a:ext cx="768096" cy="768096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6" name="Image 0" descr="/home/claude/amazon_pptx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3765" y="229514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71800"/>
            <a:ext cx="3179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429000"/>
            <a:ext cx="281421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agent_id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agent_age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agent_rating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68698" y="1828800"/>
            <a:ext cx="3454298" cy="352044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35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11800" y="2103120"/>
            <a:ext cx="768096" cy="768096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11" name="Image 1" descr="/home/claude/amazon_pptx/icons/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824" y="229514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05858" y="2971800"/>
            <a:ext cx="3179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34458" y="3429000"/>
            <a:ext cx="281421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 / time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pickup_time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drop lat/long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order_hour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delivery_datetime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88757" y="1828800"/>
            <a:ext cx="3454298" cy="352044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35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31858" y="2103120"/>
            <a:ext cx="768096" cy="768096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16" name="Image 2" descr="/home/claude/amazon_pptx/icons/tru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3882" y="229514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5917" y="2971800"/>
            <a:ext cx="3179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delivery_details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54517" y="3429000"/>
            <a:ext cx="281421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delivery_id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/ traffic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/ area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delivery_time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551383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activities: Database creation  •  Table creation  •  Data validation  •  Data cleaning  •  Analysis queries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DELIVERY PERFORMANCE &amp; AGENT EFFICIENCY DASHBOARD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MySQL to Power BI — ETL Process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Transform, Load pipeline built with Power Query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396414" cy="2468880"/>
          </a:xfrm>
          <a:prstGeom prst="roundRect">
            <a:avLst>
              <a:gd name="adj" fmla="val 3816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5400000">
              <a:srgbClr val="1A213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1087" y="2404872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6" name="Image 0" descr="/home/claude/amazon_pptx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3967" y="25877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46120"/>
            <a:ext cx="21220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Database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630168"/>
            <a:ext cx="203065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via the MySQL Database connector in Power BI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81630" y="3273552"/>
            <a:ext cx="429768" cy="219456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10" name="Shape 7"/>
          <p:cNvSpPr/>
          <p:nvPr/>
        </p:nvSpPr>
        <p:spPr>
          <a:xfrm>
            <a:off x="3447974" y="2148840"/>
            <a:ext cx="2396414" cy="2468880"/>
          </a:xfrm>
          <a:prstGeom prst="roundRect">
            <a:avLst>
              <a:gd name="adj" fmla="val 38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35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80421" y="2404872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2" name="Image 1" descr="/home/claude/amazon_pptx/icons/gea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301" y="258775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85134" y="3246120"/>
            <a:ext cx="21220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30854" y="3630168"/>
            <a:ext cx="203065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extracted from amazondelivery_db (agents, orders, delivery_details)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880964" y="3273552"/>
            <a:ext cx="429768" cy="219456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16" name="Shape 12"/>
          <p:cNvSpPr/>
          <p:nvPr/>
        </p:nvSpPr>
        <p:spPr>
          <a:xfrm>
            <a:off x="6347308" y="2148840"/>
            <a:ext cx="2396414" cy="2468880"/>
          </a:xfrm>
          <a:prstGeom prst="roundRect">
            <a:avLst>
              <a:gd name="adj" fmla="val 38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35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79755" y="2404872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8" name="Image 2" descr="/home/claude/amazon_pptx/icons/bro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634" y="258775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84468" y="3246120"/>
            <a:ext cx="21220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530188" y="3630168"/>
            <a:ext cx="203065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used for data cleaning &amp; transformation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780297" y="3273552"/>
            <a:ext cx="429768" cy="219456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22" name="Shape 17"/>
          <p:cNvSpPr/>
          <p:nvPr/>
        </p:nvSpPr>
        <p:spPr>
          <a:xfrm>
            <a:off x="9246641" y="2148840"/>
            <a:ext cx="2396414" cy="2468880"/>
          </a:xfrm>
          <a:prstGeom prst="roundRect">
            <a:avLst>
              <a:gd name="adj" fmla="val 38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35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79088" y="2404872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4" name="Image 3" descr="/home/claude/amazon_pptx/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1968" y="258775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83801" y="3246120"/>
            <a:ext cx="21220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9429521" y="3630168"/>
            <a:ext cx="203065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 data loaded into the Power BI data model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DELIVERY PERFORMANCE &amp; AGENT EFFICIENCY DASHBOARD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checks performed using SQL and Power Query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6432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135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52828"/>
            <a:ext cx="512064" cy="512064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6" name="Image 0" descr="/home/claude/amazon_pptx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22" y="216804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74520"/>
            <a:ext cx="4358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78728" y="1874520"/>
            <a:ext cx="536432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135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79896" y="2052828"/>
            <a:ext cx="512064" cy="512064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10" name="Image 1" descr="/home/claude/amazon_pptx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110" y="216804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47408" y="1874520"/>
            <a:ext cx="4358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035808"/>
            <a:ext cx="536432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135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49808" y="3214116"/>
            <a:ext cx="512064" cy="512064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14" name="Image 2" descr="/home/claude/amazon_pptx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" y="3329330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035808"/>
            <a:ext cx="4358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agent age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78728" y="3035808"/>
            <a:ext cx="536432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135">
                <a:alpha val="13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79896" y="3214116"/>
            <a:ext cx="512064" cy="512064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18" name="Image 3" descr="/home/claude/amazon_pptx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110" y="3329330"/>
            <a:ext cx="281635" cy="28163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47408" y="3035808"/>
            <a:ext cx="4358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agent ratings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48640" y="4197096"/>
            <a:ext cx="536432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135">
                <a:alpha val="13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49808" y="4375404"/>
            <a:ext cx="512064" cy="512064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22" name="Image 4" descr="/home/claude/amazon_pptx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22" y="4490618"/>
            <a:ext cx="281635" cy="28163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4197096"/>
            <a:ext cx="4358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latitude &amp; longitude values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278728" y="4197096"/>
            <a:ext cx="536432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135">
                <a:alpha val="13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79896" y="4375404"/>
            <a:ext cx="512064" cy="512064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26" name="Image 5" descr="/home/claude/amazon_pptx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110" y="4490618"/>
            <a:ext cx="281635" cy="28163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47408" y="4197096"/>
            <a:ext cx="4358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and time validation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548640" y="5358384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135">
                <a:alpha val="13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3992728" y="5536692"/>
            <a:ext cx="512064" cy="512064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30" name="Image 6" descr="/home/claude/amazon_pptx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7942" y="5651906"/>
            <a:ext cx="281635" cy="28163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678528" y="5358384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validation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DELIVERY PERFORMANCE &amp; AGENT EFFICIENCY DASHBOARD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DAX Measures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KPI calculations powering the Power BI data model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2A4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55648"/>
            <a:ext cx="585216" cy="585216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6" name="Image 0" descr="/home/claude/amazon_pptx/icon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0195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00200"/>
            <a:ext cx="3566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57800" y="1600200"/>
            <a:ext cx="638525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COUNTROWS(Orders)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551176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2A47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706624"/>
            <a:ext cx="585216" cy="585216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1" name="Image 1" descr="/home/claude/amazon_pptx/icons/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8529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551176"/>
            <a:ext cx="3566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Agents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257800" y="2551176"/>
            <a:ext cx="638525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DISTINCTCOUNT(Agents[agent_id])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502152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2A47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657600"/>
            <a:ext cx="585216" cy="585216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6" name="Image 2" descr="/home/claude/amazon_pptx/icons/tru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80390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502152"/>
            <a:ext cx="3566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Deliveries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257800" y="3502152"/>
            <a:ext cx="638525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COUNTROWS(Delivery_Details)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453128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2A47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608576"/>
            <a:ext cx="585216" cy="585216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1" name="Image 3" descr="/home/claude/amazon_pptx/icons/s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75488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453128"/>
            <a:ext cx="3566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Agent Rating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257800" y="4453128"/>
            <a:ext cx="638525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AVERAGE(Agents[agent_rating])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5404104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2A47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5559552"/>
            <a:ext cx="585216" cy="585216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6" name="Image 4" descr="/home/claude/amazon_pptx/icons/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570585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5404104"/>
            <a:ext cx="3566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Time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5257800" y="5404104"/>
            <a:ext cx="638525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AVERAGE(Delivery_Details[delivery_time])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DELIVERY PERFORMANCE &amp; AGENT EFFICIENCY DASHBOARD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9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DELIVERY PERFORMANCE &amp; AGENT EFFICIENCY DASHBOARD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Design — Pages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interactive Power BI report pages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3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621792" cy="621792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6" name="Image 0" descr="/home/claude/amazon_pptx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92808"/>
            <a:ext cx="4175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554480" y="2112264"/>
            <a:ext cx="4175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2679192"/>
            <a:ext cx="48522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• Total Agents • Total Deliveries • Avg Delivery Time • Avg Agent Rating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78728" y="1691640"/>
            <a:ext cx="53643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35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4760" y="1947672"/>
            <a:ext cx="621792" cy="621792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12" name="Image 1" descr="/home/claude/amazon_pptx/icons/tru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210312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84568" y="1892808"/>
            <a:ext cx="4175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284568" y="2112264"/>
            <a:ext cx="4175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Analysis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34760" y="2679192"/>
            <a:ext cx="48522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analysis • Weather analysis • Traffic analysis • Delivery time analysis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53643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35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4672" y="4279392"/>
            <a:ext cx="621792" cy="621792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18" name="Image 2" descr="/home/claude/amazon_pptx/icons/us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34840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4224528"/>
            <a:ext cx="4175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554480" y="4443984"/>
            <a:ext cx="4175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Analysis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04672" y="5010912"/>
            <a:ext cx="48522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 • Agent rating • Age-wise analysis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78728" y="4023360"/>
            <a:ext cx="53643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35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34760" y="4279392"/>
            <a:ext cx="621792" cy="621792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24" name="Image 3" descr="/home/claude/amazon_pptx/icons/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208" y="4434840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84568" y="4224528"/>
            <a:ext cx="4175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7284568" y="4443984"/>
            <a:ext cx="4175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&amp; Location Analysis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6534760" y="5010912"/>
            <a:ext cx="48522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trends • Area-wise orders • Store location • Drop location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DELIVERY PERFORMANCE &amp; AGENT EFFICIENCY DASHBOARD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Visuals, Filters &amp; 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66344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35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5" name="Image 0" descr="/home/claude/amazon_pptx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185051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83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Visuals Used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4023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Column Charts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Charts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/ Location Visuals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1A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&amp; Navigation Buttons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8680" y="3977640"/>
            <a:ext cx="4023360" cy="0"/>
          </a:xfrm>
          <a:prstGeom prst="line">
            <a:avLst/>
          </a:prstGeom>
          <a:noFill/>
          <a:ln w="12700">
            <a:solidFill>
              <a:srgbClr val="D8E0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0" name="Image 1" descr="/home/claude/amazon_pptx/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17" y="422795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41605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 &amp; Slicers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68680" y="470916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 · Vehicle · Weather · Traffic · Area · Agent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40680" y="1508760"/>
            <a:ext cx="6217920" cy="4617720"/>
          </a:xfrm>
          <a:prstGeom prst="roundRect">
            <a:avLst>
              <a:gd name="adj" fmla="val 2376"/>
            </a:avLst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5400000">
              <a:srgbClr val="1A2135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733288" y="173736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5" name="Image 2" descr="/home/claude/amazon_pptx/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445" y="185051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1783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5806440" y="2423160"/>
            <a:ext cx="548640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40000"/>
              </a:lnSpc>
              <a:buSzPct val="100000"/>
              <a:buChar char="●"/>
            </a:pPr>
            <a:r>
              <a:rPr lang="en-US" sz="13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 varies across traffic conditions</a:t>
            </a:r>
            <a:endParaRPr lang="en-US" sz="1300" dirty="0"/>
          </a:p>
          <a:p>
            <a:pPr marL="177800" indent="-177800">
              <a:lnSpc>
                <a:spcPct val="140000"/>
              </a:lnSpc>
              <a:buSzPct val="100000"/>
              <a:buChar char="●"/>
            </a:pPr>
            <a:r>
              <a:rPr lang="en-US" sz="13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conditions can influence delivery time</a:t>
            </a:r>
            <a:endParaRPr lang="en-US" sz="1300" dirty="0"/>
          </a:p>
          <a:p>
            <a:pPr marL="177800" indent="-177800">
              <a:lnSpc>
                <a:spcPct val="140000"/>
              </a:lnSpc>
              <a:buSzPct val="100000"/>
              <a:buChar char="●"/>
            </a:pPr>
            <a:r>
              <a:rPr lang="en-US" sz="13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 can affect delivery efficiency</a:t>
            </a:r>
            <a:endParaRPr lang="en-US" sz="1300" dirty="0"/>
          </a:p>
          <a:p>
            <a:pPr marL="177800" indent="-177800">
              <a:lnSpc>
                <a:spcPct val="140000"/>
              </a:lnSpc>
              <a:buSzPct val="100000"/>
              <a:buChar char="●"/>
            </a:pPr>
            <a:r>
              <a:rPr lang="en-US" sz="13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areas have different order volumes</a:t>
            </a:r>
            <a:endParaRPr lang="en-US" sz="1300" dirty="0"/>
          </a:p>
          <a:p>
            <a:pPr marL="177800" indent="-177800">
              <a:lnSpc>
                <a:spcPct val="140000"/>
              </a:lnSpc>
              <a:buSzPct val="100000"/>
              <a:buChar char="●"/>
            </a:pPr>
            <a:r>
              <a:rPr lang="en-US" sz="13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ratings help evaluate agent performance</a:t>
            </a:r>
            <a:endParaRPr lang="en-US" sz="1300" dirty="0"/>
          </a:p>
          <a:p>
            <a:pPr marL="177800" indent="-177800">
              <a:lnSpc>
                <a:spcPct val="140000"/>
              </a:lnSpc>
              <a:buSzPct val="100000"/>
              <a:buChar char="●"/>
            </a:pPr>
            <a:r>
              <a:rPr lang="en-US" sz="13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Date-wise analysis helps identify order patterns</a:t>
            </a:r>
            <a:endParaRPr lang="en-US" sz="1300" dirty="0"/>
          </a:p>
          <a:p>
            <a:pPr marL="177800" indent="-177800">
              <a:lnSpc>
                <a:spcPct val="140000"/>
              </a:lnSpc>
              <a:buSzPct val="100000"/>
              <a:buChar char="●"/>
            </a:pPr>
            <a:r>
              <a:rPr lang="en-US" sz="13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support faster operational analysis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DELIVERY PERFORMANCE &amp; AGENT EFFICIENCY DASHBOARD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389120"/>
            <a:ext cx="4206240" cy="4206240"/>
          </a:xfrm>
          <a:prstGeom prst="ellipse">
            <a:avLst/>
          </a:prstGeom>
          <a:solidFill>
            <a:srgbClr val="1E2A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5" name="Image 0" descr="/home/claude/amazon_pptx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134759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188720"/>
            <a:ext cx="103628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MySQL, Power Query, DAX, and Power BI can be integrated to analyze Amazon delivery operations — turning raw data into insights on orders, agents, vehicles, traffic, weather, and areas to support better operational decisions.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880360"/>
            <a:ext cx="11094415" cy="0"/>
          </a:xfrm>
          <a:prstGeom prst="line">
            <a:avLst/>
          </a:prstGeom>
          <a:noFill/>
          <a:ln w="12700">
            <a:solidFill>
              <a:srgbClr val="2E3B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352044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40000"/>
              </a:lnSpc>
              <a:buSzPct val="100000"/>
              <a:buChar char="→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Problem Selection</a:t>
            </a:r>
            <a:endParaRPr lang="en-US" sz="1200" dirty="0"/>
          </a:p>
          <a:p>
            <a:pPr marL="203200" indent="-203200">
              <a:lnSpc>
                <a:spcPct val="140000"/>
              </a:lnSpc>
              <a:buSzPct val="100000"/>
              <a:buChar char="→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</a:t>
            </a:r>
            <a:endParaRPr lang="en-US" sz="1200" dirty="0"/>
          </a:p>
          <a:p>
            <a:pPr marL="203200" indent="-203200">
              <a:lnSpc>
                <a:spcPct val="140000"/>
              </a:lnSpc>
              <a:buSzPct val="100000"/>
              <a:buChar char="→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DB &amp; Tables</a:t>
            </a:r>
            <a:endParaRPr lang="en-US" sz="1200" dirty="0"/>
          </a:p>
          <a:p>
            <a:pPr marL="203200" indent="-203200">
              <a:lnSpc>
                <a:spcPct val="140000"/>
              </a:lnSpc>
              <a:buSzPct val="100000"/>
              <a:buChar char="→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Cleaning &amp; Analysis</a:t>
            </a:r>
            <a:endParaRPr lang="en-US" sz="1200" dirty="0"/>
          </a:p>
          <a:p>
            <a:pPr marL="203200" indent="-203200">
              <a:lnSpc>
                <a:spcPct val="140000"/>
              </a:lnSpc>
              <a:buSzPct val="100000"/>
              <a:buChar char="→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+ Power Query (ETL)</a:t>
            </a:r>
            <a:endParaRPr lang="en-US" sz="1200" dirty="0"/>
          </a:p>
          <a:p>
            <a:pPr marL="203200" indent="-203200">
              <a:lnSpc>
                <a:spcPct val="140000"/>
              </a:lnSpc>
              <a:buSzPct val="100000"/>
              <a:buChar char="→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Dashboard Design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0" y="3063240"/>
            <a:ext cx="5257800" cy="3108960"/>
          </a:xfrm>
          <a:prstGeom prst="roundRect">
            <a:avLst>
              <a:gd name="adj" fmla="val 2941"/>
            </a:avLst>
          </a:prstGeom>
          <a:solidFill>
            <a:srgbClr val="1E2A47"/>
          </a:solidFill>
          <a:ln/>
        </p:spPr>
      </p:sp>
      <p:sp>
        <p:nvSpPr>
          <p:cNvPr id="11" name="Shape 8"/>
          <p:cNvSpPr/>
          <p:nvPr/>
        </p:nvSpPr>
        <p:spPr>
          <a:xfrm>
            <a:off x="6675120" y="329184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2" name="Image 1" descr="/home/claude/amazon_pptx/icons/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277" y="340499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333756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75120" y="3886200"/>
            <a:ext cx="4709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PowerBI-SQL-Project/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SQL/  (database, table, cleaning, analysis queries)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Dataset/  (amazon_delivery.csv)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PowerBI/  (Amazon_Delivery_Dashboard.pbix)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Screenshots/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Documentation/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090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2026-08-20T07:44:55Z</dcterms:created>
  <dcterms:modified xsi:type="dcterms:W3CDTF">2026-08-20T07:44:55Z</dcterms:modified>
</cp:coreProperties>
</file>